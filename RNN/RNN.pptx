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7" r:id="rId3"/>
    <p:sldId id="257" r:id="rId4"/>
    <p:sldId id="264" r:id="rId5"/>
    <p:sldId id="258" r:id="rId6"/>
    <p:sldId id="265" r:id="rId7"/>
    <p:sldId id="259" r:id="rId8"/>
    <p:sldId id="260" r:id="rId9"/>
    <p:sldId id="266" r:id="rId10"/>
    <p:sldId id="261" r:id="rId11"/>
    <p:sldId id="262" r:id="rId12"/>
    <p:sldId id="263" r:id="rId13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82" d="100"/>
          <a:sy n="82" d="100"/>
        </p:scale>
        <p:origin x="-1474" y="-91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0CB0AF-6D40-48F2-8734-4CB90CC2191A}" type="datetimeFigureOut">
              <a:rPr lang="en-IN" smtClean="0"/>
              <a:t>16-11-2025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2D6FD4-818E-4A24-BCF6-9509BED98C1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9674175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0CB0AF-6D40-48F2-8734-4CB90CC2191A}" type="datetimeFigureOut">
              <a:rPr lang="en-IN" smtClean="0"/>
              <a:t>16-11-2025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2D6FD4-818E-4A24-BCF6-9509BED98C1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111855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0CB0AF-6D40-48F2-8734-4CB90CC2191A}" type="datetimeFigureOut">
              <a:rPr lang="en-IN" smtClean="0"/>
              <a:t>16-11-2025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2D6FD4-818E-4A24-BCF6-9509BED98C1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811946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0CB0AF-6D40-48F2-8734-4CB90CC2191A}" type="datetimeFigureOut">
              <a:rPr lang="en-IN" smtClean="0"/>
              <a:t>16-11-2025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2D6FD4-818E-4A24-BCF6-9509BED98C1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4695956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0CB0AF-6D40-48F2-8734-4CB90CC2191A}" type="datetimeFigureOut">
              <a:rPr lang="en-IN" smtClean="0"/>
              <a:t>16-11-2025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2D6FD4-818E-4A24-BCF6-9509BED98C1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124736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0CB0AF-6D40-48F2-8734-4CB90CC2191A}" type="datetimeFigureOut">
              <a:rPr lang="en-IN" smtClean="0"/>
              <a:t>16-11-2025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2D6FD4-818E-4A24-BCF6-9509BED98C1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3069931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0CB0AF-6D40-48F2-8734-4CB90CC2191A}" type="datetimeFigureOut">
              <a:rPr lang="en-IN" smtClean="0"/>
              <a:t>16-11-2025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2D6FD4-818E-4A24-BCF6-9509BED98C1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928740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0CB0AF-6D40-48F2-8734-4CB90CC2191A}" type="datetimeFigureOut">
              <a:rPr lang="en-IN" smtClean="0"/>
              <a:t>16-11-2025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2D6FD4-818E-4A24-BCF6-9509BED98C1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857098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0CB0AF-6D40-48F2-8734-4CB90CC2191A}" type="datetimeFigureOut">
              <a:rPr lang="en-IN" smtClean="0"/>
              <a:t>16-11-2025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2D6FD4-818E-4A24-BCF6-9509BED98C1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4047708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0CB0AF-6D40-48F2-8734-4CB90CC2191A}" type="datetimeFigureOut">
              <a:rPr lang="en-IN" smtClean="0"/>
              <a:t>16-11-2025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2D6FD4-818E-4A24-BCF6-9509BED98C1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8893942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0CB0AF-6D40-48F2-8734-4CB90CC2191A}" type="datetimeFigureOut">
              <a:rPr lang="en-IN" smtClean="0"/>
              <a:t>16-11-2025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2D6FD4-818E-4A24-BCF6-9509BED98C1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167158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80CB0AF-6D40-48F2-8734-4CB90CC2191A}" type="datetimeFigureOut">
              <a:rPr lang="en-IN" smtClean="0"/>
              <a:t>16-11-2025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2D6FD4-818E-4A24-BCF6-9509BED98C1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547549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44625"/>
            <a:ext cx="7772400" cy="864096"/>
          </a:xfrm>
        </p:spPr>
        <p:txBody>
          <a:bodyPr/>
          <a:lstStyle/>
          <a:p>
            <a:r>
              <a:rPr lang="en-US" dirty="0" smtClean="0"/>
              <a:t>Agenda</a:t>
            </a:r>
            <a:endParaRPr lang="en-IN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39552" y="1484784"/>
            <a:ext cx="7992888" cy="3600400"/>
          </a:xfrm>
        </p:spPr>
        <p:txBody>
          <a:bodyPr>
            <a:noAutofit/>
          </a:bodyPr>
          <a:lstStyle/>
          <a:p>
            <a:pPr marL="342900" indent="-342900" algn="l">
              <a:buFont typeface="Arial" pitchFamily="34" charset="0"/>
              <a:buChar char="•"/>
            </a:pPr>
            <a:r>
              <a:rPr lang="en-US" dirty="0" smtClean="0">
                <a:solidFill>
                  <a:schemeClr val="tx1"/>
                </a:solidFill>
                <a:effectLst/>
              </a:rPr>
              <a:t>RNN Introduction. </a:t>
            </a:r>
          </a:p>
          <a:p>
            <a:pPr marL="342900" indent="-342900" algn="l">
              <a:buFont typeface="Arial" pitchFamily="34" charset="0"/>
              <a:buChar char="•"/>
            </a:pPr>
            <a:r>
              <a:rPr lang="en-US" dirty="0" smtClean="0">
                <a:solidFill>
                  <a:schemeClr val="tx1"/>
                </a:solidFill>
                <a:effectLst/>
              </a:rPr>
              <a:t>RNN Architecture </a:t>
            </a:r>
            <a:endParaRPr lang="en-US" dirty="0" smtClean="0">
              <a:solidFill>
                <a:schemeClr val="tx1"/>
              </a:solidFill>
              <a:effectLst/>
            </a:endParaRPr>
          </a:p>
          <a:p>
            <a:pPr marL="342900" indent="-342900" algn="l">
              <a:buFont typeface="Arial" pitchFamily="34" charset="0"/>
              <a:buChar char="•"/>
            </a:pPr>
            <a:r>
              <a:rPr lang="en-US" dirty="0" smtClean="0">
                <a:solidFill>
                  <a:schemeClr val="tx1"/>
                </a:solidFill>
              </a:rPr>
              <a:t>Types Of RNN</a:t>
            </a:r>
          </a:p>
          <a:p>
            <a:pPr marL="342900" indent="-342900" algn="l">
              <a:buFont typeface="Arial" pitchFamily="34" charset="0"/>
              <a:buChar char="•"/>
            </a:pPr>
            <a:r>
              <a:rPr lang="en-US" dirty="0" smtClean="0">
                <a:solidFill>
                  <a:schemeClr val="tx1"/>
                </a:solidFill>
                <a:effectLst/>
              </a:rPr>
              <a:t>Training </a:t>
            </a:r>
            <a:endParaRPr lang="en-IN" dirty="0" smtClean="0">
              <a:solidFill>
                <a:schemeClr val="tx1"/>
              </a:solidFill>
              <a:effectLst/>
            </a:endParaRPr>
          </a:p>
          <a:p>
            <a:pPr marL="342900" indent="-342900" algn="l">
              <a:buFont typeface="Arial" pitchFamily="34" charset="0"/>
              <a:buChar char="•"/>
            </a:pPr>
            <a:r>
              <a:rPr lang="en-US" dirty="0" smtClean="0">
                <a:solidFill>
                  <a:schemeClr val="tx1"/>
                </a:solidFill>
              </a:rPr>
              <a:t>Issue : Vanishing / Exploding Gradient</a:t>
            </a:r>
          </a:p>
          <a:p>
            <a:pPr marL="342900" indent="-342900" algn="l">
              <a:buFont typeface="Arial" pitchFamily="34" charset="0"/>
              <a:buChar char="•"/>
            </a:pPr>
            <a:r>
              <a:rPr lang="en-US" dirty="0" smtClean="0">
                <a:solidFill>
                  <a:schemeClr val="tx1"/>
                </a:solidFill>
              </a:rPr>
              <a:t>LSTM</a:t>
            </a:r>
          </a:p>
          <a:p>
            <a:pPr marL="342900" indent="-342900" algn="l">
              <a:buFont typeface="Arial" pitchFamily="34" charset="0"/>
              <a:buChar char="•"/>
            </a:pPr>
            <a:endParaRPr lang="en-IN" dirty="0" smtClean="0">
              <a:solidFill>
                <a:schemeClr val="tx1"/>
              </a:solidFill>
              <a:effectLst/>
            </a:endParaRPr>
          </a:p>
          <a:p>
            <a:pPr marL="342900" indent="-342900">
              <a:buFont typeface="Arial" pitchFamily="34" charset="0"/>
              <a:buChar char="•"/>
            </a:pPr>
            <a:endParaRPr lang="en-IN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838949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44625"/>
            <a:ext cx="7772400" cy="864096"/>
          </a:xfrm>
        </p:spPr>
        <p:txBody>
          <a:bodyPr/>
          <a:lstStyle/>
          <a:p>
            <a:r>
              <a:rPr lang="en-US" dirty="0" smtClean="0"/>
              <a:t>RNN Intro</a:t>
            </a:r>
            <a:endParaRPr lang="en-IN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39552" y="1484784"/>
            <a:ext cx="7992888" cy="2592288"/>
          </a:xfrm>
        </p:spPr>
        <p:txBody>
          <a:bodyPr>
            <a:noAutofit/>
          </a:bodyPr>
          <a:lstStyle/>
          <a:p>
            <a:pPr marL="342900" indent="-342900" algn="l">
              <a:buFont typeface="Arial" pitchFamily="34" charset="0"/>
              <a:buChar char="•"/>
            </a:pPr>
            <a:r>
              <a:rPr lang="en-US" sz="2400" dirty="0">
                <a:solidFill>
                  <a:schemeClr val="tx1"/>
                </a:solidFill>
              </a:rPr>
              <a:t>A</a:t>
            </a:r>
            <a:r>
              <a:rPr lang="en-US" sz="2400" dirty="0" smtClean="0">
                <a:solidFill>
                  <a:schemeClr val="tx1"/>
                </a:solidFill>
                <a:effectLst/>
              </a:rPr>
              <a:t>rtificial neural network which uses sequential data or time series data. </a:t>
            </a:r>
          </a:p>
          <a:p>
            <a:pPr marL="342900" indent="-342900" algn="l">
              <a:buFont typeface="Arial" pitchFamily="34" charset="0"/>
              <a:buChar char="•"/>
            </a:pPr>
            <a:r>
              <a:rPr lang="en-US" sz="2400" dirty="0" smtClean="0">
                <a:solidFill>
                  <a:schemeClr val="tx1"/>
                </a:solidFill>
                <a:effectLst/>
              </a:rPr>
              <a:t>Sequential Data : </a:t>
            </a:r>
            <a:r>
              <a:rPr lang="en-US" sz="2400" dirty="0" smtClean="0">
                <a:solidFill>
                  <a:schemeClr val="tx1"/>
                </a:solidFill>
              </a:rPr>
              <a:t>Entities occur in a particular order</a:t>
            </a:r>
            <a:r>
              <a:rPr lang="en-US" sz="2400" dirty="0" smtClean="0">
                <a:solidFill>
                  <a:schemeClr val="tx1"/>
                </a:solidFill>
                <a:effectLst/>
              </a:rPr>
              <a:t> </a:t>
            </a:r>
            <a:endParaRPr lang="en-US" sz="2400" dirty="0" smtClean="0">
              <a:solidFill>
                <a:schemeClr val="tx1"/>
              </a:solidFill>
              <a:effectLst/>
            </a:endParaRPr>
          </a:p>
          <a:p>
            <a:pPr marL="342900" indent="-342900" algn="l">
              <a:buFont typeface="Arial" pitchFamily="34" charset="0"/>
              <a:buChar char="•"/>
            </a:pPr>
            <a:r>
              <a:rPr lang="en-US" sz="2400" dirty="0" smtClean="0">
                <a:solidFill>
                  <a:schemeClr val="tx1"/>
                </a:solidFill>
              </a:rPr>
              <a:t>Commonly </a:t>
            </a:r>
            <a:r>
              <a:rPr lang="en-US" sz="2400" dirty="0">
                <a:solidFill>
                  <a:schemeClr val="tx1"/>
                </a:solidFill>
              </a:rPr>
              <a:t>used for ordinal or temporal </a:t>
            </a:r>
            <a:r>
              <a:rPr lang="en-US" sz="2400" dirty="0" smtClean="0">
                <a:solidFill>
                  <a:schemeClr val="tx1"/>
                </a:solidFill>
              </a:rPr>
              <a:t>problems</a:t>
            </a:r>
          </a:p>
          <a:p>
            <a:pPr marL="342900" indent="-342900" algn="l">
              <a:buFont typeface="Arial" pitchFamily="34" charset="0"/>
              <a:buChar char="•"/>
            </a:pPr>
            <a:r>
              <a:rPr lang="en-US" sz="2400" dirty="0">
                <a:solidFill>
                  <a:schemeClr val="tx1"/>
                </a:solidFill>
              </a:rPr>
              <a:t>R</a:t>
            </a:r>
            <a:r>
              <a:rPr lang="en-US" sz="2400" dirty="0" smtClean="0">
                <a:solidFill>
                  <a:schemeClr val="tx1"/>
                </a:solidFill>
                <a:effectLst/>
              </a:rPr>
              <a:t>ecurrent neural networks utilize training data to learn. </a:t>
            </a:r>
            <a:endParaRPr lang="en-IN" sz="2400" dirty="0" smtClean="0">
              <a:solidFill>
                <a:schemeClr val="tx1"/>
              </a:solidFill>
              <a:effectLst/>
            </a:endParaRPr>
          </a:p>
          <a:p>
            <a:pPr marL="342900" indent="-342900" algn="l">
              <a:buFont typeface="Arial" pitchFamily="34" charset="0"/>
              <a:buChar char="•"/>
            </a:pPr>
            <a:r>
              <a:rPr lang="en-US" sz="2400" dirty="0" smtClean="0">
                <a:solidFill>
                  <a:schemeClr val="tx1"/>
                </a:solidFill>
              </a:rPr>
              <a:t>Distinguished </a:t>
            </a:r>
            <a:r>
              <a:rPr lang="en-US" sz="2400" dirty="0">
                <a:solidFill>
                  <a:schemeClr val="tx1"/>
                </a:solidFill>
              </a:rPr>
              <a:t>by their “</a:t>
            </a:r>
            <a:r>
              <a:rPr lang="en-US" sz="2400" dirty="0" smtClean="0">
                <a:solidFill>
                  <a:schemeClr val="tx1"/>
                </a:solidFill>
              </a:rPr>
              <a:t>memory</a:t>
            </a:r>
          </a:p>
          <a:p>
            <a:pPr marL="342900" indent="-342900" algn="l">
              <a:buFont typeface="Arial" pitchFamily="34" charset="0"/>
              <a:buChar char="•"/>
            </a:pPr>
            <a:endParaRPr lang="en-IN" sz="2400" dirty="0" smtClean="0">
              <a:solidFill>
                <a:schemeClr val="tx1"/>
              </a:solidFill>
              <a:effectLst/>
            </a:endParaRPr>
          </a:p>
          <a:p>
            <a:pPr marL="342900" indent="-342900">
              <a:buFont typeface="Arial" pitchFamily="34" charset="0"/>
              <a:buChar char="•"/>
            </a:pPr>
            <a:endParaRPr lang="en-IN" sz="24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4269635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44625"/>
            <a:ext cx="7772400" cy="864096"/>
          </a:xfrm>
        </p:spPr>
        <p:txBody>
          <a:bodyPr/>
          <a:lstStyle/>
          <a:p>
            <a:r>
              <a:rPr lang="en-US" dirty="0" smtClean="0"/>
              <a:t>RNN Architecture</a:t>
            </a:r>
            <a:endParaRPr lang="en-IN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39552" y="1484784"/>
            <a:ext cx="7992888" cy="3096344"/>
          </a:xfrm>
        </p:spPr>
        <p:txBody>
          <a:bodyPr>
            <a:normAutofit/>
          </a:bodyPr>
          <a:lstStyle/>
          <a:p>
            <a:pPr marL="342900" indent="-342900" algn="l">
              <a:buFont typeface="Arial" pitchFamily="34" charset="0"/>
              <a:buChar char="•"/>
            </a:pPr>
            <a:r>
              <a:rPr lang="en-US" sz="2400" dirty="0" smtClean="0">
                <a:solidFill>
                  <a:schemeClr val="tx1"/>
                </a:solidFill>
              </a:rPr>
              <a:t>Input</a:t>
            </a:r>
            <a:r>
              <a:rPr lang="en-US" sz="2400" dirty="0">
                <a:solidFill>
                  <a:schemeClr val="tx1"/>
                </a:solidFill>
              </a:rPr>
              <a:t>, output and hidden layers </a:t>
            </a:r>
            <a:endParaRPr lang="en-US" sz="2400" dirty="0" smtClean="0">
              <a:solidFill>
                <a:schemeClr val="tx1"/>
              </a:solidFill>
            </a:endParaRPr>
          </a:p>
          <a:p>
            <a:pPr marL="342900" indent="-342900" algn="l">
              <a:buFont typeface="Arial" pitchFamily="34" charset="0"/>
              <a:buChar char="•"/>
            </a:pPr>
            <a:r>
              <a:rPr lang="en-US" sz="2400" dirty="0" smtClean="0">
                <a:solidFill>
                  <a:schemeClr val="tx1"/>
                </a:solidFill>
              </a:rPr>
              <a:t>Neurons </a:t>
            </a:r>
            <a:r>
              <a:rPr lang="en-US" sz="2400" dirty="0">
                <a:solidFill>
                  <a:schemeClr val="tx1"/>
                </a:solidFill>
              </a:rPr>
              <a:t>are connected to themselves through time. </a:t>
            </a:r>
            <a:endParaRPr lang="en-US" sz="2400" dirty="0" smtClean="0">
              <a:solidFill>
                <a:schemeClr val="tx1"/>
              </a:solidFill>
            </a:endParaRPr>
          </a:p>
          <a:p>
            <a:pPr marL="342900" indent="-342900" algn="l">
              <a:buFont typeface="Arial" pitchFamily="34" charset="0"/>
              <a:buChar char="•"/>
            </a:pPr>
            <a:r>
              <a:rPr lang="en-US" sz="2400" dirty="0" smtClean="0">
                <a:solidFill>
                  <a:schemeClr val="tx1"/>
                </a:solidFill>
              </a:rPr>
              <a:t>Neurons </a:t>
            </a:r>
            <a:r>
              <a:rPr lang="en-US" sz="2400" dirty="0">
                <a:solidFill>
                  <a:schemeClr val="tx1"/>
                </a:solidFill>
              </a:rPr>
              <a:t>have some short term </a:t>
            </a:r>
            <a:r>
              <a:rPr lang="en-US" sz="2400" dirty="0" smtClean="0">
                <a:solidFill>
                  <a:schemeClr val="tx1"/>
                </a:solidFill>
              </a:rPr>
              <a:t>memory</a:t>
            </a:r>
          </a:p>
          <a:p>
            <a:pPr marL="342900" indent="-342900" algn="l">
              <a:buFont typeface="Arial" pitchFamily="34" charset="0"/>
              <a:buChar char="•"/>
            </a:pPr>
            <a:r>
              <a:rPr lang="en-US" sz="2400" dirty="0">
                <a:solidFill>
                  <a:schemeClr val="tx1"/>
                </a:solidFill>
              </a:rPr>
              <a:t>RNNs have two dimensions </a:t>
            </a:r>
            <a:endParaRPr lang="en-US" sz="2400" dirty="0" smtClean="0">
              <a:solidFill>
                <a:schemeClr val="tx1"/>
              </a:solidFill>
            </a:endParaRPr>
          </a:p>
          <a:p>
            <a:pPr marL="800100" lvl="1" indent="-342900" algn="l">
              <a:buFont typeface="Arial" pitchFamily="34" charset="0"/>
              <a:buChar char="•"/>
            </a:pPr>
            <a:r>
              <a:rPr lang="en-US" sz="2400" dirty="0">
                <a:solidFill>
                  <a:schemeClr val="tx1"/>
                </a:solidFill>
              </a:rPr>
              <a:t>T</a:t>
            </a:r>
            <a:r>
              <a:rPr lang="en-US" sz="2400" dirty="0" smtClean="0">
                <a:solidFill>
                  <a:schemeClr val="tx1"/>
                </a:solidFill>
                <a:effectLst/>
              </a:rPr>
              <a:t>ime t (along the sequence length) </a:t>
            </a:r>
          </a:p>
          <a:p>
            <a:pPr marL="800100" lvl="1" indent="-342900" algn="l">
              <a:buFont typeface="Arial" pitchFamily="34" charset="0"/>
              <a:buChar char="•"/>
            </a:pPr>
            <a:r>
              <a:rPr lang="en-US" sz="2400" dirty="0">
                <a:solidFill>
                  <a:schemeClr val="tx1"/>
                </a:solidFill>
              </a:rPr>
              <a:t>T</a:t>
            </a:r>
            <a:r>
              <a:rPr lang="en-US" sz="2400" dirty="0" smtClean="0">
                <a:solidFill>
                  <a:schemeClr val="tx1"/>
                </a:solidFill>
                <a:effectLst/>
              </a:rPr>
              <a:t>he depth (usual layers).</a:t>
            </a:r>
            <a:endParaRPr lang="en-IN" sz="2400" dirty="0" smtClean="0">
              <a:solidFill>
                <a:schemeClr val="tx1"/>
              </a:solidFill>
              <a:effectLst/>
            </a:endParaRPr>
          </a:p>
          <a:p>
            <a:pPr marL="342900" indent="-342900" algn="l">
              <a:buFont typeface="Arial" pitchFamily="34" charset="0"/>
              <a:buChar char="•"/>
            </a:pPr>
            <a:endParaRPr lang="en-IN" sz="24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0032171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44625"/>
            <a:ext cx="7772400" cy="864096"/>
          </a:xfrm>
        </p:spPr>
        <p:txBody>
          <a:bodyPr/>
          <a:lstStyle/>
          <a:p>
            <a:r>
              <a:rPr lang="en-US" dirty="0" smtClean="0"/>
              <a:t>RNN Architecture</a:t>
            </a:r>
            <a:endParaRPr lang="en-IN" dirty="0"/>
          </a:p>
        </p:txBody>
      </p:sp>
      <p:pic>
        <p:nvPicPr>
          <p:cNvPr id="5" name="Picture 4"/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9214" y="1204332"/>
            <a:ext cx="8033226" cy="510498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47041522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44625"/>
            <a:ext cx="7772400" cy="864096"/>
          </a:xfrm>
        </p:spPr>
        <p:txBody>
          <a:bodyPr/>
          <a:lstStyle/>
          <a:p>
            <a:r>
              <a:rPr lang="en-US" dirty="0" smtClean="0"/>
              <a:t>Types Of RNN</a:t>
            </a:r>
            <a:endParaRPr lang="en-IN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39552" y="1484784"/>
            <a:ext cx="7992888" cy="3096344"/>
          </a:xfrm>
        </p:spPr>
        <p:txBody>
          <a:bodyPr>
            <a:normAutofit/>
          </a:bodyPr>
          <a:lstStyle/>
          <a:p>
            <a:pPr marL="342900" indent="-342900" algn="l">
              <a:buFont typeface="Arial" pitchFamily="34" charset="0"/>
              <a:buChar char="•"/>
            </a:pPr>
            <a:r>
              <a:rPr lang="en-US" sz="2400" dirty="0">
                <a:solidFill>
                  <a:schemeClr val="tx1"/>
                </a:solidFill>
              </a:rPr>
              <a:t>Many to one </a:t>
            </a:r>
            <a:r>
              <a:rPr lang="en-US" sz="2400" dirty="0" smtClean="0">
                <a:solidFill>
                  <a:schemeClr val="tx1"/>
                </a:solidFill>
              </a:rPr>
              <a:t>RNN</a:t>
            </a:r>
          </a:p>
          <a:p>
            <a:pPr marL="342900" indent="-342900" algn="l">
              <a:buFont typeface="Arial" pitchFamily="34" charset="0"/>
              <a:buChar char="•"/>
            </a:pPr>
            <a:r>
              <a:rPr lang="en-US" sz="2400" dirty="0">
                <a:solidFill>
                  <a:schemeClr val="tx1"/>
                </a:solidFill>
              </a:rPr>
              <a:t>Many to Many </a:t>
            </a:r>
            <a:r>
              <a:rPr lang="en-US" sz="2400" dirty="0" smtClean="0">
                <a:solidFill>
                  <a:schemeClr val="tx1"/>
                </a:solidFill>
              </a:rPr>
              <a:t>RNN (equal </a:t>
            </a:r>
            <a:r>
              <a:rPr lang="en-US" sz="2400" dirty="0">
                <a:solidFill>
                  <a:schemeClr val="tx1"/>
                </a:solidFill>
              </a:rPr>
              <a:t>input and output</a:t>
            </a:r>
            <a:r>
              <a:rPr lang="en-US" sz="2400" dirty="0" smtClean="0">
                <a:solidFill>
                  <a:schemeClr val="tx1"/>
                </a:solidFill>
              </a:rPr>
              <a:t>)</a:t>
            </a:r>
          </a:p>
          <a:p>
            <a:pPr marL="342900" indent="-342900" algn="l">
              <a:buFont typeface="Arial" pitchFamily="34" charset="0"/>
              <a:buChar char="•"/>
            </a:pPr>
            <a:r>
              <a:rPr lang="en-US" sz="2400" dirty="0">
                <a:solidFill>
                  <a:schemeClr val="tx1"/>
                </a:solidFill>
              </a:rPr>
              <a:t>Many to many (unequal input and output</a:t>
            </a:r>
            <a:r>
              <a:rPr lang="en-US" sz="2400" dirty="0" smtClean="0">
                <a:solidFill>
                  <a:schemeClr val="tx1"/>
                </a:solidFill>
              </a:rPr>
              <a:t>)</a:t>
            </a:r>
          </a:p>
          <a:p>
            <a:pPr marL="342900" indent="-342900" algn="l">
              <a:buFont typeface="Arial" pitchFamily="34" charset="0"/>
              <a:buChar char="•"/>
            </a:pPr>
            <a:r>
              <a:rPr lang="en-US" sz="2400" dirty="0">
                <a:solidFill>
                  <a:schemeClr val="tx1"/>
                </a:solidFill>
              </a:rPr>
              <a:t>One to many RNN</a:t>
            </a:r>
            <a:endParaRPr lang="en-IN" sz="2400" dirty="0">
              <a:solidFill>
                <a:schemeClr val="tx1"/>
              </a:solidFill>
            </a:endParaRPr>
          </a:p>
          <a:p>
            <a:pPr marL="342900" indent="-342900" algn="l">
              <a:buFont typeface="Arial" pitchFamily="34" charset="0"/>
              <a:buChar char="•"/>
            </a:pPr>
            <a:endParaRPr lang="en-IN" sz="24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7828420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44625"/>
            <a:ext cx="7772400" cy="864096"/>
          </a:xfrm>
        </p:spPr>
        <p:txBody>
          <a:bodyPr/>
          <a:lstStyle/>
          <a:p>
            <a:r>
              <a:rPr lang="en-US" dirty="0" smtClean="0"/>
              <a:t>Types Of RNN</a:t>
            </a:r>
            <a:endParaRPr lang="en-IN" dirty="0"/>
          </a:p>
        </p:txBody>
      </p:sp>
      <p:pic>
        <p:nvPicPr>
          <p:cNvPr id="5" name="Picture 4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9552" y="1196752"/>
            <a:ext cx="7920880" cy="4896544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04729085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44625"/>
            <a:ext cx="7772400" cy="864096"/>
          </a:xfrm>
        </p:spPr>
        <p:txBody>
          <a:bodyPr/>
          <a:lstStyle/>
          <a:p>
            <a:r>
              <a:rPr lang="en-US" dirty="0" smtClean="0"/>
              <a:t>Training</a:t>
            </a:r>
            <a:endParaRPr lang="en-IN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39552" y="1484784"/>
            <a:ext cx="7992888" cy="3096344"/>
          </a:xfrm>
        </p:spPr>
        <p:txBody>
          <a:bodyPr>
            <a:normAutofit/>
          </a:bodyPr>
          <a:lstStyle/>
          <a:p>
            <a:pPr marL="342900" indent="-342900" algn="l">
              <a:buFont typeface="Arial" pitchFamily="34" charset="0"/>
              <a:buChar char="•"/>
            </a:pPr>
            <a:r>
              <a:rPr lang="en-US" sz="2400" dirty="0">
                <a:solidFill>
                  <a:schemeClr val="tx1"/>
                </a:solidFill>
              </a:rPr>
              <a:t>Many to one </a:t>
            </a:r>
            <a:endParaRPr lang="en-US" sz="2400" dirty="0" smtClean="0">
              <a:solidFill>
                <a:schemeClr val="tx1"/>
              </a:solidFill>
            </a:endParaRPr>
          </a:p>
          <a:p>
            <a:pPr marL="800100" lvl="1" indent="-342900" algn="l">
              <a:buFont typeface="Arial" pitchFamily="34" charset="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Loss is simply the difference between predicted and actual</a:t>
            </a:r>
            <a:endParaRPr lang="en-US" sz="2000" dirty="0" smtClean="0">
              <a:solidFill>
                <a:schemeClr val="tx1"/>
              </a:solidFill>
            </a:endParaRPr>
          </a:p>
          <a:p>
            <a:pPr marL="342900" indent="-342900" algn="l">
              <a:buFont typeface="Arial" pitchFamily="34" charset="0"/>
              <a:buChar char="•"/>
            </a:pPr>
            <a:r>
              <a:rPr lang="en-US" sz="2400" dirty="0" smtClean="0">
                <a:solidFill>
                  <a:schemeClr val="tx1"/>
                </a:solidFill>
              </a:rPr>
              <a:t>Many </a:t>
            </a:r>
            <a:r>
              <a:rPr lang="en-US" sz="2400" dirty="0">
                <a:solidFill>
                  <a:schemeClr val="tx1"/>
                </a:solidFill>
              </a:rPr>
              <a:t>to </a:t>
            </a:r>
            <a:r>
              <a:rPr lang="en-US" sz="2400" dirty="0" smtClean="0">
                <a:solidFill>
                  <a:schemeClr val="tx1"/>
                </a:solidFill>
              </a:rPr>
              <a:t>Many</a:t>
            </a:r>
          </a:p>
          <a:p>
            <a:pPr marL="800100" lvl="1" indent="-342900" algn="l">
              <a:buFont typeface="Arial" pitchFamily="34" charset="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Loss is calculated at each </a:t>
            </a:r>
            <a:r>
              <a:rPr lang="en-US" sz="2000" dirty="0" smtClean="0">
                <a:solidFill>
                  <a:schemeClr val="tx1"/>
                </a:solidFill>
              </a:rPr>
              <a:t>time-step</a:t>
            </a:r>
            <a:endParaRPr lang="en-IN" sz="20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5776534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44625"/>
            <a:ext cx="7772400" cy="864096"/>
          </a:xfrm>
        </p:spPr>
        <p:txBody>
          <a:bodyPr/>
          <a:lstStyle/>
          <a:p>
            <a:r>
              <a:rPr lang="en-US" dirty="0" smtClean="0"/>
              <a:t>Vanishing/Exploding Gradient</a:t>
            </a:r>
            <a:endParaRPr lang="en-IN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39552" y="1484784"/>
            <a:ext cx="7992888" cy="3096344"/>
          </a:xfrm>
        </p:spPr>
        <p:txBody>
          <a:bodyPr>
            <a:normAutofit/>
          </a:bodyPr>
          <a:lstStyle/>
          <a:p>
            <a:pPr marL="342900" indent="-342900" algn="l">
              <a:buFont typeface="Arial" pitchFamily="34" charset="0"/>
              <a:buChar char="•"/>
            </a:pPr>
            <a:r>
              <a:rPr lang="en-US" sz="2400" dirty="0" smtClean="0">
                <a:solidFill>
                  <a:schemeClr val="tx1"/>
                </a:solidFill>
              </a:rPr>
              <a:t>Learn </a:t>
            </a:r>
            <a:r>
              <a:rPr lang="en-US" sz="2400" dirty="0">
                <a:solidFill>
                  <a:schemeClr val="tx1"/>
                </a:solidFill>
              </a:rPr>
              <a:t>the  long term dependencies between first word and last </a:t>
            </a:r>
            <a:r>
              <a:rPr lang="en-US" sz="2400" dirty="0" smtClean="0">
                <a:solidFill>
                  <a:schemeClr val="tx1"/>
                </a:solidFill>
              </a:rPr>
              <a:t>word</a:t>
            </a:r>
          </a:p>
          <a:p>
            <a:pPr marL="342900" indent="-342900" algn="l">
              <a:buFont typeface="Arial" pitchFamily="34" charset="0"/>
              <a:buChar char="•"/>
            </a:pPr>
            <a:r>
              <a:rPr lang="en-US" sz="2400" dirty="0">
                <a:solidFill>
                  <a:schemeClr val="tx1"/>
                </a:solidFill>
              </a:rPr>
              <a:t>Output depends upon the depth and also </a:t>
            </a:r>
            <a:r>
              <a:rPr lang="en-US" sz="2400" dirty="0" smtClean="0">
                <a:solidFill>
                  <a:schemeClr val="tx1"/>
                </a:solidFill>
              </a:rPr>
              <a:t>time</a:t>
            </a:r>
          </a:p>
          <a:p>
            <a:pPr marL="342900" indent="-342900" algn="l">
              <a:buFont typeface="Arial" pitchFamily="34" charset="0"/>
              <a:buChar char="•"/>
            </a:pPr>
            <a:r>
              <a:rPr lang="en-US" sz="2400" dirty="0" smtClean="0">
                <a:solidFill>
                  <a:schemeClr val="tx1"/>
                </a:solidFill>
              </a:rPr>
              <a:t>Back </a:t>
            </a:r>
            <a:r>
              <a:rPr lang="en-US" sz="2400" dirty="0">
                <a:solidFill>
                  <a:schemeClr val="tx1"/>
                </a:solidFill>
              </a:rPr>
              <a:t>propagation through time (BPTT).</a:t>
            </a:r>
            <a:endParaRPr lang="en-IN" sz="24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7971584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44625"/>
            <a:ext cx="7772400" cy="864096"/>
          </a:xfrm>
        </p:spPr>
        <p:txBody>
          <a:bodyPr/>
          <a:lstStyle/>
          <a:p>
            <a:r>
              <a:rPr lang="en-US" dirty="0" smtClean="0"/>
              <a:t>Vanishing/Exploding Gradient</a:t>
            </a:r>
            <a:endParaRPr lang="en-IN" dirty="0"/>
          </a:p>
        </p:txBody>
      </p:sp>
      <p:pic>
        <p:nvPicPr>
          <p:cNvPr id="6" name="Picture 5"/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0741" y="1196752"/>
            <a:ext cx="7433667" cy="4896544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85302177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44625"/>
            <a:ext cx="7772400" cy="864096"/>
          </a:xfrm>
        </p:spPr>
        <p:txBody>
          <a:bodyPr/>
          <a:lstStyle/>
          <a:p>
            <a:r>
              <a:rPr lang="en-US" dirty="0" smtClean="0"/>
              <a:t>Possible Solution</a:t>
            </a:r>
            <a:endParaRPr lang="en-IN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39552" y="1484784"/>
            <a:ext cx="7992888" cy="3096344"/>
          </a:xfrm>
        </p:spPr>
        <p:txBody>
          <a:bodyPr>
            <a:normAutofit/>
          </a:bodyPr>
          <a:lstStyle/>
          <a:p>
            <a:pPr marL="342900" indent="-342900" algn="l">
              <a:buFont typeface="Arial" pitchFamily="34" charset="0"/>
              <a:buChar char="•"/>
            </a:pPr>
            <a:r>
              <a:rPr lang="en-US" sz="2400" dirty="0" smtClean="0">
                <a:solidFill>
                  <a:schemeClr val="tx1"/>
                </a:solidFill>
              </a:rPr>
              <a:t>Gradient Clipping</a:t>
            </a:r>
          </a:p>
          <a:p>
            <a:pPr marL="342900" indent="-342900" algn="l">
              <a:buFont typeface="Arial" pitchFamily="34" charset="0"/>
              <a:buChar char="•"/>
            </a:pPr>
            <a:r>
              <a:rPr lang="en-US" sz="2400" dirty="0" smtClean="0">
                <a:solidFill>
                  <a:schemeClr val="tx1"/>
                </a:solidFill>
              </a:rPr>
              <a:t>Use Short Sequences</a:t>
            </a:r>
          </a:p>
          <a:p>
            <a:pPr marL="342900" indent="-342900" algn="l">
              <a:buFont typeface="Arial" pitchFamily="34" charset="0"/>
              <a:buChar char="•"/>
            </a:pPr>
            <a:r>
              <a:rPr lang="en-US" sz="2400" dirty="0" smtClean="0">
                <a:solidFill>
                  <a:schemeClr val="tx1"/>
                </a:solidFill>
              </a:rPr>
              <a:t>LSTM</a:t>
            </a:r>
          </a:p>
          <a:p>
            <a:pPr marL="342900" indent="-342900" algn="l">
              <a:buFont typeface="Arial" pitchFamily="34" charset="0"/>
              <a:buChar char="•"/>
            </a:pPr>
            <a:r>
              <a:rPr lang="en-US" sz="2400" dirty="0" smtClean="0">
                <a:solidFill>
                  <a:schemeClr val="tx1"/>
                </a:solidFill>
              </a:rPr>
              <a:t>GRU</a:t>
            </a:r>
            <a:endParaRPr lang="en-IN" sz="24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0966993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44625"/>
            <a:ext cx="7772400" cy="864096"/>
          </a:xfrm>
        </p:spPr>
        <p:txBody>
          <a:bodyPr/>
          <a:lstStyle/>
          <a:p>
            <a:r>
              <a:rPr lang="en-US" dirty="0" smtClean="0"/>
              <a:t>LSTM</a:t>
            </a:r>
            <a:endParaRPr lang="en-IN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39552" y="1484784"/>
            <a:ext cx="7992888" cy="3096344"/>
          </a:xfrm>
        </p:spPr>
        <p:txBody>
          <a:bodyPr>
            <a:normAutofit/>
          </a:bodyPr>
          <a:lstStyle/>
          <a:p>
            <a:pPr algn="l"/>
            <a:r>
              <a:rPr lang="en-IN" sz="2400" dirty="0" smtClean="0">
                <a:solidFill>
                  <a:schemeClr val="tx1"/>
                </a:solidFill>
                <a:effectLst/>
              </a:rPr>
              <a:t>LSTM is characterised by the following three main properties:</a:t>
            </a:r>
          </a:p>
          <a:p>
            <a:pPr marL="342900" lvl="0" indent="-342900" algn="l">
              <a:buFont typeface="Arial" pitchFamily="34" charset="0"/>
              <a:buChar char="•"/>
            </a:pPr>
            <a:r>
              <a:rPr lang="en-IN" sz="2400" dirty="0" smtClean="0">
                <a:solidFill>
                  <a:schemeClr val="tx1"/>
                </a:solidFill>
                <a:effectLst/>
              </a:rPr>
              <a:t>The cells have an explicit 'memory'</a:t>
            </a:r>
          </a:p>
          <a:p>
            <a:pPr marL="342900" lvl="0" indent="-342900" algn="l">
              <a:buFont typeface="Arial" pitchFamily="34" charset="0"/>
              <a:buChar char="•"/>
            </a:pPr>
            <a:r>
              <a:rPr lang="en-IN" sz="2400" dirty="0" smtClean="0">
                <a:solidFill>
                  <a:schemeClr val="tx1"/>
                </a:solidFill>
                <a:effectLst/>
              </a:rPr>
              <a:t>The gating mechanisms</a:t>
            </a:r>
          </a:p>
          <a:p>
            <a:pPr marL="342900" lvl="0" indent="-342900" algn="l">
              <a:buFont typeface="Arial" pitchFamily="34" charset="0"/>
              <a:buChar char="•"/>
            </a:pPr>
            <a:r>
              <a:rPr lang="en-IN" sz="2400" dirty="0" smtClean="0">
                <a:solidFill>
                  <a:schemeClr val="tx1"/>
                </a:solidFill>
                <a:effectLst/>
              </a:rPr>
              <a:t>Constant error carousel</a:t>
            </a:r>
            <a:endParaRPr lang="en-IN" sz="2400" dirty="0">
              <a:solidFill>
                <a:schemeClr val="tx1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346345870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44625"/>
            <a:ext cx="7772400" cy="864096"/>
          </a:xfrm>
        </p:spPr>
        <p:txBody>
          <a:bodyPr/>
          <a:lstStyle/>
          <a:p>
            <a:r>
              <a:rPr lang="en-US" dirty="0" smtClean="0"/>
              <a:t>LSTM</a:t>
            </a:r>
            <a:endParaRPr lang="en-IN" dirty="0"/>
          </a:p>
        </p:txBody>
      </p:sp>
      <p:pic>
        <p:nvPicPr>
          <p:cNvPr id="5" name="Picture 4"/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5536" y="1124744"/>
            <a:ext cx="7992888" cy="5256584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20432633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37</TotalTime>
  <Words>212</Words>
  <Application>Microsoft Office PowerPoint</Application>
  <PresentationFormat>On-screen Show (4:3)</PresentationFormat>
  <Paragraphs>48</Paragraphs>
  <Slides>12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3" baseType="lpstr">
      <vt:lpstr>Office Theme</vt:lpstr>
      <vt:lpstr>Agenda</vt:lpstr>
      <vt:lpstr>RNN Intro</vt:lpstr>
      <vt:lpstr>RNN Architecture</vt:lpstr>
      <vt:lpstr>RNN Architecture</vt:lpstr>
      <vt:lpstr>Types Of RNN</vt:lpstr>
      <vt:lpstr>Types Of RNN</vt:lpstr>
      <vt:lpstr>Training</vt:lpstr>
      <vt:lpstr>Vanishing/Exploding Gradient</vt:lpstr>
      <vt:lpstr>Vanishing/Exploding Gradient</vt:lpstr>
      <vt:lpstr>Possible Solution</vt:lpstr>
      <vt:lpstr>LSTM</vt:lpstr>
      <vt:lpstr>LSTM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RNN Intro</dc:title>
  <dc:creator>LENOVO</dc:creator>
  <cp:lastModifiedBy>LENOVO</cp:lastModifiedBy>
  <cp:revision>7</cp:revision>
  <dcterms:created xsi:type="dcterms:W3CDTF">2025-11-16T04:11:25Z</dcterms:created>
  <dcterms:modified xsi:type="dcterms:W3CDTF">2025-11-16T04:49:18Z</dcterms:modified>
</cp:coreProperties>
</file>